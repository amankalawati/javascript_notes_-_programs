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</p:sldMasterIdLst>
  <p:sldIdLst>
    <p:sldId id="256" r:id="rId2"/>
    <p:sldId id="263" r:id="rId3"/>
    <p:sldId id="261" r:id="rId4"/>
    <p:sldId id="258" r:id="rId5"/>
    <p:sldId id="257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16AFCB-EE28-44BD-BA48-41E34CB95E50}" type="doc">
      <dgm:prSet loTypeId="urn:microsoft.com/office/officeart/2024/layout/MeetTheTeamCard" loCatId="meettheteam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491CDB0-66FC-4268-AF16-7EBD3D3A29B2}">
      <dgm:prSet phldrT="Name" phldr="0"/>
      <dgm:spPr/>
      <dgm:t>
        <a:bodyPr/>
        <a:lstStyle/>
        <a:p>
          <a:pPr>
            <a:defRPr b="1"/>
          </a:pPr>
          <a:r>
            <a:rPr lang="en-IN" b="0" i="0" dirty="0"/>
            <a:t>Brendan Eich</a:t>
          </a:r>
          <a:endParaRPr lang="en-IN" dirty="0"/>
        </a:p>
      </dgm:t>
    </dgm:pt>
    <dgm:pt modelId="{BBF18EC3-8C6C-4A46-92E9-30C893C5F2F5}" type="parTrans" cxnId="{305DF1AC-584D-4497-A7C6-2493FF7A0346}">
      <dgm:prSet/>
      <dgm:spPr/>
      <dgm:t>
        <a:bodyPr/>
        <a:lstStyle/>
        <a:p>
          <a:endParaRPr lang="en-IN"/>
        </a:p>
      </dgm:t>
    </dgm:pt>
    <dgm:pt modelId="{09A3B10E-BD0A-4A6D-A08D-DD71144BCC5D}" type="sibTrans" cxnId="{305DF1AC-584D-4497-A7C6-2493FF7A0346}">
      <dgm:prSet/>
      <dgm:spPr/>
      <dgm:t>
        <a:bodyPr/>
        <a:lstStyle/>
        <a:p>
          <a:endParaRPr lang="en-IN"/>
        </a:p>
      </dgm:t>
    </dgm:pt>
    <dgm:pt modelId="{2B57C2D1-9B57-48B0-A74A-0488409D4639}">
      <dgm:prSet phldrT="Role" phldr="0"/>
      <dgm:spPr/>
      <dgm:t>
        <a:bodyPr/>
        <a:lstStyle/>
        <a:p>
          <a:r>
            <a:rPr lang="en-US" dirty="0"/>
            <a:t>Creator of the JavaScript</a:t>
          </a:r>
          <a:endParaRPr lang="en-IN" dirty="0"/>
        </a:p>
      </dgm:t>
    </dgm:pt>
    <dgm:pt modelId="{234E65FC-09A8-4231-ADA5-C5AE4C4DF3EF}" type="parTrans" cxnId="{6053625A-C12B-453C-9988-431A4875B2BF}">
      <dgm:prSet/>
      <dgm:spPr/>
      <dgm:t>
        <a:bodyPr/>
        <a:lstStyle/>
        <a:p>
          <a:endParaRPr lang="en-IN"/>
        </a:p>
      </dgm:t>
    </dgm:pt>
    <dgm:pt modelId="{9DECCCFD-9B92-446A-851E-4B3346662D6B}" type="sibTrans" cxnId="{6053625A-C12B-453C-9988-431A4875B2BF}">
      <dgm:prSet/>
      <dgm:spPr/>
      <dgm:t>
        <a:bodyPr/>
        <a:lstStyle/>
        <a:p>
          <a:endParaRPr lang="en-IN"/>
        </a:p>
      </dgm:t>
    </dgm:pt>
    <dgm:pt modelId="{3456AFB1-10C9-4B7E-B141-7E846D9298DC}" type="pres">
      <dgm:prSet presAssocID="{0516AFCB-EE28-44BD-BA48-41E34CB95E50}" presName="root" presStyleCnt="0">
        <dgm:presLayoutVars>
          <dgm:dir/>
          <dgm:resizeHandles val="exact"/>
        </dgm:presLayoutVars>
      </dgm:prSet>
      <dgm:spPr/>
    </dgm:pt>
    <dgm:pt modelId="{2255317D-CAC1-47A7-8054-F80039490181}" type="pres">
      <dgm:prSet presAssocID="{B491CDB0-66FC-4268-AF16-7EBD3D3A29B2}" presName="compNode" presStyleCnt="0"/>
      <dgm:spPr/>
    </dgm:pt>
    <dgm:pt modelId="{E5BF89CE-4571-44CF-A3A5-A82B741EB18D}" type="pres">
      <dgm:prSet presAssocID="{B491CDB0-66FC-4268-AF16-7EBD3D3A29B2}" presName="bgPill" presStyleLbl="node1NoLn" presStyleIdx="0" presStyleCnt="1" custScaleX="223563" custScaleY="292375"/>
      <dgm:spPr/>
    </dgm:pt>
    <dgm:pt modelId="{1ECA0E81-F97A-4A7B-A93B-EBCA83EB59BC}" type="pres">
      <dgm:prSet presAssocID="{B491CDB0-66FC-4268-AF16-7EBD3D3A29B2}" presName="photoCircle" presStyleLbl="ltNode1NoLn" presStyleIdx="0" presStyleCnt="1" custScaleX="220186" custScaleY="247171" custLinFactX="-17001" custLinFactNeighborX="-100000" custLinFactNeighborY="10723"/>
      <dgm:spPr>
        <a:blipFill>
          <a:blip xmlns:r="http://schemas.openxmlformats.org/officeDocument/2006/relationships" r:embed="rId1"/>
          <a:srcRect/>
          <a:stretch>
            <a:fillRect t="-6000" b="-6000"/>
          </a:stretch>
        </a:blipFill>
      </dgm:spPr>
    </dgm:pt>
    <dgm:pt modelId="{A97AD389-9159-4C54-BC7B-20BA236D0FD0}" type="pres">
      <dgm:prSet presAssocID="{B491CDB0-66FC-4268-AF16-7EBD3D3A29B2}" presName="nameText" presStyleLbl="revTxLt" presStyleIdx="0" presStyleCnt="2">
        <dgm:presLayoutVars>
          <dgm:chMax val="1"/>
          <dgm:chPref val="1"/>
        </dgm:presLayoutVars>
      </dgm:prSet>
      <dgm:spPr/>
    </dgm:pt>
    <dgm:pt modelId="{33B4CF17-F49A-45D5-B80C-3B27695F8255}" type="pres">
      <dgm:prSet presAssocID="{B491CDB0-66FC-4268-AF16-7EBD3D3A29B2}" presName="roleText" presStyleLbl="revTxLt" presStyleIdx="1" presStyleCnt="2">
        <dgm:presLayoutVars>
          <dgm:chMax val="0"/>
        </dgm:presLayoutVars>
      </dgm:prSet>
      <dgm:spPr/>
    </dgm:pt>
  </dgm:ptLst>
  <dgm:cxnLst>
    <dgm:cxn modelId="{91E3CB18-BD62-4F4E-AC96-C8DD23AC025A}" type="presOf" srcId="{2B57C2D1-9B57-48B0-A74A-0488409D4639}" destId="{33B4CF17-F49A-45D5-B80C-3B27695F8255}" srcOrd="0" destOrd="0" presId="urn:microsoft.com/office/officeart/2024/layout/MeetTheTeamCard"/>
    <dgm:cxn modelId="{F72C7E26-CA1D-44A4-A54D-9C77F608D194}" type="presOf" srcId="{0516AFCB-EE28-44BD-BA48-41E34CB95E50}" destId="{3456AFB1-10C9-4B7E-B141-7E846D9298DC}" srcOrd="0" destOrd="0" presId="urn:microsoft.com/office/officeart/2024/layout/MeetTheTeamCard"/>
    <dgm:cxn modelId="{6053625A-C12B-453C-9988-431A4875B2BF}" srcId="{B491CDB0-66FC-4268-AF16-7EBD3D3A29B2}" destId="{2B57C2D1-9B57-48B0-A74A-0488409D4639}" srcOrd="0" destOrd="0" parTransId="{234E65FC-09A8-4231-ADA5-C5AE4C4DF3EF}" sibTransId="{9DECCCFD-9B92-446A-851E-4B3346662D6B}"/>
    <dgm:cxn modelId="{6C6B139A-8C07-49A9-BB14-F05C0F4B42E9}" type="presOf" srcId="{B491CDB0-66FC-4268-AF16-7EBD3D3A29B2}" destId="{A97AD389-9159-4C54-BC7B-20BA236D0FD0}" srcOrd="0" destOrd="0" presId="urn:microsoft.com/office/officeart/2024/layout/MeetTheTeamCard"/>
    <dgm:cxn modelId="{305DF1AC-584D-4497-A7C6-2493FF7A0346}" srcId="{0516AFCB-EE28-44BD-BA48-41E34CB95E50}" destId="{B491CDB0-66FC-4268-AF16-7EBD3D3A29B2}" srcOrd="0" destOrd="0" parTransId="{BBF18EC3-8C6C-4A46-92E9-30C893C5F2F5}" sibTransId="{09A3B10E-BD0A-4A6D-A08D-DD71144BCC5D}"/>
    <dgm:cxn modelId="{FAB499B0-3D0E-4925-AB3B-456C9891C4DB}" type="presParOf" srcId="{3456AFB1-10C9-4B7E-B141-7E846D9298DC}" destId="{2255317D-CAC1-47A7-8054-F80039490181}" srcOrd="0" destOrd="0" presId="urn:microsoft.com/office/officeart/2024/layout/MeetTheTeamCard"/>
    <dgm:cxn modelId="{7664E1E0-74C5-4B87-85AC-75BA30BF6A59}" type="presParOf" srcId="{2255317D-CAC1-47A7-8054-F80039490181}" destId="{E5BF89CE-4571-44CF-A3A5-A82B741EB18D}" srcOrd="0" destOrd="0" presId="urn:microsoft.com/office/officeart/2024/layout/MeetTheTeamCard"/>
    <dgm:cxn modelId="{547A5CBC-A3FE-4EC9-9438-64AB1D5ADC0E}" type="presParOf" srcId="{2255317D-CAC1-47A7-8054-F80039490181}" destId="{1ECA0E81-F97A-4A7B-A93B-EBCA83EB59BC}" srcOrd="1" destOrd="0" presId="urn:microsoft.com/office/officeart/2024/layout/MeetTheTeamCard"/>
    <dgm:cxn modelId="{DFFD899D-CCE2-41BA-8DD1-864DEF9A9379}" type="presParOf" srcId="{2255317D-CAC1-47A7-8054-F80039490181}" destId="{A97AD389-9159-4C54-BC7B-20BA236D0FD0}" srcOrd="2" destOrd="0" presId="urn:microsoft.com/office/officeart/2024/layout/MeetTheTeamCard"/>
    <dgm:cxn modelId="{07B67AF7-BF00-4008-9F3A-C893E7AE4895}" type="presParOf" srcId="{2255317D-CAC1-47A7-8054-F80039490181}" destId="{33B4CF17-F49A-45D5-B80C-3B27695F8255}" srcOrd="3" destOrd="0" presId="urn:microsoft.com/office/officeart/2024/layout/MeetTheTeamCar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F89CE-4571-44CF-A3A5-A82B741EB18D}">
      <dsp:nvSpPr>
        <dsp:cNvPr id="0" name=""/>
        <dsp:cNvSpPr/>
      </dsp:nvSpPr>
      <dsp:spPr>
        <a:xfrm>
          <a:off x="39866" y="808194"/>
          <a:ext cx="8048268" cy="3802278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A0E81-F97A-4A7B-A93B-EBCA83EB59BC}">
      <dsp:nvSpPr>
        <dsp:cNvPr id="0" name=""/>
        <dsp:cNvSpPr/>
      </dsp:nvSpPr>
      <dsp:spPr>
        <a:xfrm>
          <a:off x="462990" y="1491097"/>
          <a:ext cx="2376684" cy="2667959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6000" b="-6000"/>
          </a:stretch>
        </a:blip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7AD389-9159-4C54-BC7B-20BA236D0FD0}">
      <dsp:nvSpPr>
        <dsp:cNvPr id="0" name=""/>
        <dsp:cNvSpPr/>
      </dsp:nvSpPr>
      <dsp:spPr>
        <a:xfrm>
          <a:off x="3668518" y="2059093"/>
          <a:ext cx="1980000" cy="650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800" b="0" i="0" kern="1200" dirty="0"/>
            <a:t>Brendan Eich</a:t>
          </a:r>
          <a:endParaRPr lang="en-IN" sz="1800" kern="1200" dirty="0"/>
        </a:p>
      </dsp:txBody>
      <dsp:txXfrm>
        <a:off x="3668518" y="2059093"/>
        <a:ext cx="1980000" cy="650240"/>
      </dsp:txXfrm>
    </dsp:sp>
    <dsp:sp modelId="{33B4CF17-F49A-45D5-B80C-3B27695F8255}">
      <dsp:nvSpPr>
        <dsp:cNvPr id="0" name=""/>
        <dsp:cNvSpPr/>
      </dsp:nvSpPr>
      <dsp:spPr>
        <a:xfrm>
          <a:off x="3668518" y="2774357"/>
          <a:ext cx="1980000" cy="5852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Creator of the JavaScript</a:t>
          </a:r>
          <a:endParaRPr lang="en-IN" sz="1400" kern="1200" dirty="0"/>
        </a:p>
      </dsp:txBody>
      <dsp:txXfrm>
        <a:off x="3668518" y="2774357"/>
        <a:ext cx="1980000" cy="5852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MeetTheTeamCard">
  <dgm:title val=""/>
  <dgm:desc val=""/>
  <dgm:catLst>
    <dgm:cat type="meettheteam" pri="101"/>
    <dgm:cat type="pictureconvert" pri="32000"/>
  </dgm:catLst>
  <dgm:sampData>
    <dgm:dataModel>
      <dgm:ptLst>
        <dgm:pt modelId="0" type="doc"/>
        <dgm:pt modelId="10">
          <dgm:prSet phldrT="Name" phldr="1"/>
        </dgm:pt>
        <dgm:pt modelId="11">
          <dgm:prSet phldrT="Role" phldr="1"/>
        </dgm:pt>
        <dgm:pt modelId="20">
          <dgm:prSet phldrT="Name" phldr="1"/>
        </dgm:pt>
        <dgm:pt modelId="21">
          <dgm:prSet phldrT="Role" phldr="1"/>
        </dgm:pt>
        <dgm:pt modelId="30">
          <dgm:prSet phldrT="Name" phldr="1"/>
        </dgm:pt>
        <dgm:pt modelId="31">
          <dgm:prSet phldrT="Role" phldr="1"/>
        </dgm:pt>
        <dgm:pt modelId="40">
          <dgm:prSet phldrT="Name" phldr="1"/>
        </dgm:pt>
        <dgm:pt modelId="41">
          <dgm:prSet phldrT="Role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  <dgm:cxn modelId="106" srcId="0" destId="40" srcOrd="3" destOrd="0"/>
        <dgm:cxn modelId="107" srcId="40" destId="4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2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if>
      <dgm:if name="Name5" axis="ch" ptType="node" func="cnt" op="lte" val="3">
        <dgm:constrLst>
          <dgm:constr type="h" for="ch" forName="compNode" refType="h" fact="0.2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if>
      <dgm:if name="Name6" axis="ch" ptType="node" func="cnt" op="lte" val="4">
        <dgm:constrLst>
          <dgm:constr type="h" for="ch" forName="compNode" refType="h" fact="0.2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if>
      <dgm:else name="Name7">
        <dgm:constrLst>
          <dgm:constr type="h" for="ch" forName="compNode" refType="h" fact="0.2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hasRole">
          <dgm:if name="hasRoleYes" axis="ch" ptType="node" func="cnt" op="gte" val="1">
            <dgm:constrLst>
              <dgm:constr type="w" for="ch" forName="bgPill" refType="w"/>
              <dgm:constr type="h" for="ch" forName="bgPill" refType="h"/>
              <dgm:constr type="l" for="ch" forName="bgPill"/>
              <dgm:constr type="t" for="ch" forName="bgPill"/>
              <dgm:constr type="w" for="ch" forName="photoCircle" refType="h" fact="0.83"/>
              <dgm:constr type="h" for="ch" forName="photoCircle" refType="w" refFor="ch" refForName="photoCircle"/>
              <dgm:constr type="ctrY" for="ch" forName="photoCircle" refType="h" fact="0.5"/>
              <dgm:constr type="l" for="ch" forName="photoCircle" refType="h" fact="0.085"/>
              <dgm:constr type="w" for="ch" forName="nameText" refType="w" fact="0.55"/>
              <dgm:constr type="h" for="ch" forName="nameText" refType="h" fact="0.5"/>
              <dgm:constr type="l" for="ch" forName="nameText" refType="h" fact="1.08"/>
              <dgm:constr type="t" for="ch" forName="nameText"/>
              <dgm:constr type="w" for="ch" forName="roleText" refType="w" fact="0.55"/>
              <dgm:constr type="h" for="ch" forName="roleText" refType="h" fact="0.45"/>
              <dgm:constr type="l" for="ch" forName="roleText" refType="h" fact="1.08"/>
              <dgm:constr type="t" for="ch" forName="roleText" refType="h" fact="0.55"/>
            </dgm:constrLst>
          </dgm:if>
          <dgm:else name="hasRoleNo">
            <dgm:constrLst>
              <dgm:constr type="w" for="ch" forName="bgPill" refType="w"/>
              <dgm:constr type="h" for="ch" forName="bgPill" refType="h"/>
              <dgm:constr type="l" for="ch" forName="bgPill"/>
              <dgm:constr type="t" for="ch" forName="bgPill"/>
              <dgm:constr type="w" for="ch" forName="photoCircle" refType="h" fact="0.83"/>
              <dgm:constr type="h" for="ch" forName="photoCircle" refType="w" refFor="ch" refForName="photoCircle"/>
              <dgm:constr type="ctrY" for="ch" forName="photoCircle" refType="h" fact="0.5"/>
              <dgm:constr type="l" for="ch" forName="photoCircle" refType="h" fact="0.085"/>
              <dgm:constr type="w" for="ch" forName="nameText" refType="w" fact="0.55"/>
              <dgm:constr type="h" for="ch" forName="nameText" refType="h" fact="0.6"/>
              <dgm:constr type="l" for="ch" forName="nameText" refType="h" fact="1.08"/>
              <dgm:constr type="t" for="ch" forName="nameText"/>
              <dgm:constr type="w" for="ch" forName="roleText" refType="w" fact="0.55"/>
              <dgm:constr type="h" for="ch" forName="roleText"/>
              <dgm:constr type="l" for="ch" forName="roleText" refType="h" fact="1.08"/>
              <dgm:constr type="t" for="ch" forName="roleText" refType="h" fact="0.6"/>
            </dgm:constrLst>
          </dgm:else>
        </dgm:choose>
        <dgm:ruleLst>
          <dgm:rule type="h" val="INF" fact="NaN" max="NaN"/>
        </dgm:ruleLst>
        <dgm:layoutNode name="bgPill" styleLbl="node1NoLn">
          <dgm:alg type="sp"/>
          <dgm:shape xmlns:r="http://schemas.openxmlformats.org/officeDocument/2006/relationships" type="roundRect" r:blip="">
            <dgm:adjLst>
              <dgm:adj idx="1" val="0.5"/>
            </dgm:adjLst>
          </dgm:shape>
          <dgm:presOf/>
          <dgm:constrLst/>
          <dgm:ruleLst/>
        </dgm:layoutNode>
        <dgm:layoutNode name="photoCircle" styleLbl="ltNode1NoLn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nameText" styleLbl="revTxLt">
          <dgm:varLst>
            <dgm:chMax val="1"/>
            <dgm:chPref val="1"/>
          </dgm:varLst>
          <dgm:alg type="tx">
            <dgm:param type="txAnchorVert" val="b"/>
            <dgm:param type="parTxLTRAlign" val="l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roleText" styleLbl="revTxLt">
          <dgm:varLst>
            <dgm:chMax val="0"/>
          </dgm:varLst>
          <dgm:alg type="tx">
            <dgm:param type="txAnchorVert" val="t"/>
            <dgm:param type="parTxLTRAlign" val="l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240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357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803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1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40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007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7529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0059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755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14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403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45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81952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365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169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1310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38734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34474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4644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901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5173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63963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9657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26741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525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8800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1956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01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1F5B518C-5D23-432C-A0E4-D6D77547159F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633549-B2FB-4136-8930-7F28FDB1831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050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  <p:sldLayoutId id="2147483735" r:id="rId19"/>
    <p:sldLayoutId id="2147483736" r:id="rId20"/>
    <p:sldLayoutId id="2147483737" r:id="rId21"/>
    <p:sldLayoutId id="2147483738" r:id="rId22"/>
    <p:sldLayoutId id="2147483739" r:id="rId23"/>
    <p:sldLayoutId id="2147483740" r:id="rId24"/>
    <p:sldLayoutId id="2147483741" r:id="rId25"/>
    <p:sldLayoutId id="2147483742" r:id="rId26"/>
    <p:sldLayoutId id="2147483743" r:id="rId27"/>
    <p:sldLayoutId id="2147483744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0ACD72-DA6F-51AB-6F3D-C97A275CF5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8598" y="4377967"/>
            <a:ext cx="8154804" cy="1541051"/>
          </a:xfrm>
        </p:spPr>
        <p:txBody>
          <a:bodyPr>
            <a:normAutofit/>
          </a:bodyPr>
          <a:lstStyle/>
          <a:p>
            <a:r>
              <a:rPr lang="en-US" sz="78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  JavaScript</a:t>
            </a:r>
            <a:endParaRPr lang="en-IN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9228E-540F-D2C8-9148-BA95BAD1C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341" y="870155"/>
            <a:ext cx="2985319" cy="33845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8C65B4-27FD-993A-9CB6-876893DDE7F6}"/>
              </a:ext>
            </a:extLst>
          </p:cNvPr>
          <p:cNvSpPr/>
          <p:nvPr/>
        </p:nvSpPr>
        <p:spPr>
          <a:xfrm>
            <a:off x="98323" y="108155"/>
            <a:ext cx="11975690" cy="662694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14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CDF71A6-F32F-4807-70FC-C6ADF3F4F0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739951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6649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8738B1-9153-E868-C549-8FB707C82AA2}"/>
              </a:ext>
            </a:extLst>
          </p:cNvPr>
          <p:cNvSpPr txBox="1"/>
          <p:nvPr/>
        </p:nvSpPr>
        <p:spPr>
          <a:xfrm>
            <a:off x="1032571" y="599768"/>
            <a:ext cx="1739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Arial Black" panose="020B0A04020102020204" pitchFamily="34" charset="0"/>
                <a:cs typeface="Cascadia Mono SemiBold" panose="020B0609020000020004" pitchFamily="49" charset="0"/>
              </a:rPr>
              <a:t>Index</a:t>
            </a:r>
            <a:endParaRPr lang="en-IN" sz="3200" dirty="0">
              <a:latin typeface="Arial Black" panose="020B0A04020102020204" pitchFamily="34" charset="0"/>
              <a:cs typeface="Cascadia Mono SemiBold" panose="020B06090200000200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9C1C48-8A98-F9FF-D397-9558838C6FFE}"/>
              </a:ext>
            </a:extLst>
          </p:cNvPr>
          <p:cNvSpPr txBox="1"/>
          <p:nvPr/>
        </p:nvSpPr>
        <p:spPr>
          <a:xfrm>
            <a:off x="924232" y="2045110"/>
            <a:ext cx="536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What is JavaScript ?</a:t>
            </a:r>
          </a:p>
        </p:txBody>
      </p:sp>
    </p:spTree>
    <p:extLst>
      <p:ext uri="{BB962C8B-B14F-4D97-AF65-F5344CB8AC3E}">
        <p14:creationId xmlns:p14="http://schemas.microsoft.com/office/powerpoint/2010/main" val="96630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EF66BEA5-109B-55C7-41B8-D306C09616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54" b="7854"/>
          <a:stretch>
            <a:fillRect/>
          </a:stretch>
        </p:blipFill>
        <p:spPr>
          <a:xfrm>
            <a:off x="0" y="0"/>
            <a:ext cx="6744929" cy="6858000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72C216-B61D-EA71-33A8-901FBFC4D338}"/>
              </a:ext>
            </a:extLst>
          </p:cNvPr>
          <p:cNvSpPr txBox="1"/>
          <p:nvPr/>
        </p:nvSpPr>
        <p:spPr>
          <a:xfrm>
            <a:off x="6922374" y="2979173"/>
            <a:ext cx="490536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JavaScript is a high-level, dynamic, interpreted programming language that is widely used for web development. 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It enables developers to add interactive and dynamic behaviour to websites. 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JavaScript is versatile, capable of running on the client side (in browsers) and the server side (with platforms like Node.js).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47A6F8-6BD8-4074-735D-0E7F358C989A}"/>
              </a:ext>
            </a:extLst>
          </p:cNvPr>
          <p:cNvSpPr/>
          <p:nvPr/>
        </p:nvSpPr>
        <p:spPr>
          <a:xfrm>
            <a:off x="7020232" y="953729"/>
            <a:ext cx="4503173" cy="1622323"/>
          </a:xfrm>
          <a:prstGeom prst="roundRect">
            <a:avLst/>
          </a:prstGeom>
          <a:solidFill>
            <a:srgbClr val="FFC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BB5C97-E063-8F25-F675-1E58E46AEA43}"/>
              </a:ext>
            </a:extLst>
          </p:cNvPr>
          <p:cNvSpPr txBox="1"/>
          <p:nvPr/>
        </p:nvSpPr>
        <p:spPr>
          <a:xfrm>
            <a:off x="7226710" y="953729"/>
            <a:ext cx="42966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What is JavaScript ?</a:t>
            </a:r>
          </a:p>
        </p:txBody>
      </p:sp>
    </p:spTree>
    <p:extLst>
      <p:ext uri="{BB962C8B-B14F-4D97-AF65-F5344CB8AC3E}">
        <p14:creationId xmlns:p14="http://schemas.microsoft.com/office/powerpoint/2010/main" val="725507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38B0E0-3309-C62B-207E-292233BC20C0}"/>
              </a:ext>
            </a:extLst>
          </p:cNvPr>
          <p:cNvSpPr/>
          <p:nvPr/>
        </p:nvSpPr>
        <p:spPr>
          <a:xfrm>
            <a:off x="1248698" y="464574"/>
            <a:ext cx="10294374" cy="592885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29D015-9DB8-F05F-B27A-A0D3D6D334DD}"/>
              </a:ext>
            </a:extLst>
          </p:cNvPr>
          <p:cNvSpPr txBox="1"/>
          <p:nvPr/>
        </p:nvSpPr>
        <p:spPr>
          <a:xfrm>
            <a:off x="1966452" y="992674"/>
            <a:ext cx="3637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3600" b="1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Use Cases:</a:t>
            </a:r>
            <a:endParaRPr lang="en-IN" sz="2400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endParaRPr lang="en-IN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0470C1-6F02-648A-24A2-E64A600224F5}"/>
              </a:ext>
            </a:extLst>
          </p:cNvPr>
          <p:cNvSpPr txBox="1"/>
          <p:nvPr/>
        </p:nvSpPr>
        <p:spPr>
          <a:xfrm>
            <a:off x="2315497" y="1947196"/>
            <a:ext cx="75610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2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Frontend development (web apps, UI interactions)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2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Backend </a:t>
            </a:r>
            <a:r>
              <a:rPr lang="en-IN" sz="36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development</a:t>
            </a:r>
            <a:r>
              <a:rPr lang="en-IN" sz="32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(Node.js)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2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Mobile app development (React Native, etc.)</a:t>
            </a: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3200" kern="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Game development and more.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741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44AD703-B6AE-AB90-AE66-6A9583D6A924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486400" y="1379743"/>
            <a:ext cx="5525729" cy="439179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lvl="0"/>
            <a:r>
              <a:rPr lang="en-IN" sz="1800" b="1" dirty="0"/>
              <a:t>Creator:</a:t>
            </a:r>
            <a:r>
              <a:rPr lang="en-IN" sz="1800" dirty="0"/>
              <a:t> Brendan Eich</a:t>
            </a:r>
          </a:p>
          <a:p>
            <a:pPr lvl="0"/>
            <a:r>
              <a:rPr lang="en-IN" sz="1800" b="1" dirty="0"/>
              <a:t>Created at:</a:t>
            </a:r>
            <a:r>
              <a:rPr lang="en-IN" sz="1800" dirty="0"/>
              <a:t> Netscape Communications Corporation</a:t>
            </a:r>
          </a:p>
          <a:p>
            <a:pPr lvl="0"/>
            <a:r>
              <a:rPr lang="en-IN" sz="1800" b="1" dirty="0"/>
              <a:t>Year of creation:</a:t>
            </a:r>
            <a:r>
              <a:rPr lang="en-IN" sz="1800" dirty="0"/>
              <a:t> 1995</a:t>
            </a:r>
          </a:p>
          <a:p>
            <a:pPr lvl="0"/>
            <a:r>
              <a:rPr lang="en-IN" sz="1800" b="1" dirty="0"/>
              <a:t>Purpose:</a:t>
            </a:r>
            <a:r>
              <a:rPr lang="en-IN" sz="1800" dirty="0"/>
              <a:t> JavaScript was created to add interactivity and dynamic functionality to web pages. It was developed to complement Java (not replace it) and to provide simple scripting capabilities for web browsers.</a:t>
            </a:r>
          </a:p>
          <a:p>
            <a:pPr lvl="0"/>
            <a:r>
              <a:rPr lang="en-IN" sz="1800" b="1" dirty="0"/>
              <a:t>Development Time:</a:t>
            </a:r>
            <a:r>
              <a:rPr lang="en-IN" sz="1800" dirty="0"/>
              <a:t> JavaScript was created in just 10 days!</a:t>
            </a:r>
          </a:p>
          <a:p>
            <a:r>
              <a:rPr lang="en-IN" sz="1800" dirty="0"/>
              <a:t>Initially, it was named </a:t>
            </a:r>
            <a:r>
              <a:rPr lang="en-IN" sz="1800" b="1" dirty="0"/>
              <a:t>Mocha</a:t>
            </a:r>
            <a:r>
              <a:rPr lang="en-IN" sz="1800" dirty="0"/>
              <a:t>, later changed to </a:t>
            </a:r>
            <a:r>
              <a:rPr lang="en-IN" sz="1800" b="1" dirty="0" err="1"/>
              <a:t>LiveScript</a:t>
            </a:r>
            <a:r>
              <a:rPr lang="en-IN" sz="1800" dirty="0"/>
              <a:t>, and finally renamed </a:t>
            </a:r>
            <a:r>
              <a:rPr lang="en-IN" sz="1800" b="1" dirty="0"/>
              <a:t>JavaScript</a:t>
            </a:r>
            <a:r>
              <a:rPr lang="en-IN" sz="1800" dirty="0"/>
              <a:t> to capitalize on Java's popularity at the time.</a:t>
            </a:r>
          </a:p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886A9E-745E-D704-FA56-BAAF6FEAFF2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26627" y="160900"/>
            <a:ext cx="6258232" cy="800100"/>
          </a:xfrm>
          <a:prstGeom prst="roundRect">
            <a:avLst/>
          </a:prstGeom>
          <a:solidFill>
            <a:srgbClr val="7030A0">
              <a:alpha val="50000"/>
            </a:srgbClr>
          </a:solidFill>
          <a:ln>
            <a:solidFill>
              <a:srgbClr val="FFC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latin typeface="Cascadia Code" panose="020B0609020000020004" pitchFamily="49" charset="0"/>
                <a:cs typeface="Cascadia Code" panose="020B0609020000020004" pitchFamily="49" charset="0"/>
              </a:rPr>
              <a:t>Some facts about JavaScript:</a:t>
            </a:r>
            <a:endParaRPr lang="en-IN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707309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380</TotalTime>
  <Words>199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Arial</vt:lpstr>
      <vt:lpstr>Arial Black</vt:lpstr>
      <vt:lpstr>Arial Nova Light</vt:lpstr>
      <vt:lpstr>Calibri</vt:lpstr>
      <vt:lpstr>Cascadia Code</vt:lpstr>
      <vt:lpstr>Cascadia Mono SemiBold</vt:lpstr>
      <vt:lpstr>Courier New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facts about JavaScript: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Kumar</dc:creator>
  <cp:lastModifiedBy>Akash Kumar</cp:lastModifiedBy>
  <cp:revision>3</cp:revision>
  <dcterms:created xsi:type="dcterms:W3CDTF">2026-09-04T17:42:29Z</dcterms:created>
  <dcterms:modified xsi:type="dcterms:W3CDTF">2026-09-06T19:00:29Z</dcterms:modified>
</cp:coreProperties>
</file>